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5" r:id="rId10"/>
    <p:sldId id="26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6BB13-4E02-47D6-B51B-300407545168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71CF5-8D7F-4CEC-A79C-4697D4E61D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71CF5-8D7F-4CEC-A79C-4697D4E61D3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656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サボりとタスクのバーは、特定の場所でないと見れない</a:t>
            </a:r>
            <a:endParaRPr kumimoji="1" lang="en-US" altLang="ja-JP" dirty="0"/>
          </a:p>
          <a:p>
            <a:r>
              <a:rPr kumimoji="1" lang="ja-JP" altLang="en-US" dirty="0"/>
              <a:t>という風にする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71CF5-8D7F-4CEC-A79C-4697D4E61D3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512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71CF5-8D7F-4CEC-A79C-4697D4E61D3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791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＜展開＞の「規模」とは何かを具体的に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71CF5-8D7F-4CEC-A79C-4697D4E61D3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42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アピールポイントは、このゲームはどう楽しいかを</a:t>
            </a:r>
            <a:endParaRPr kumimoji="1" lang="en-US" altLang="ja-JP" dirty="0"/>
          </a:p>
          <a:p>
            <a:r>
              <a:rPr kumimoji="1" lang="ja-JP" altLang="en-US" dirty="0"/>
              <a:t>技術的アピールではない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71CF5-8D7F-4CEC-A79C-4697D4E61D3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014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D04587-BCC6-AE42-B51A-981879C66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12B5EE-7D16-6BF7-DF65-48D04124D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5C41AC-2F2D-34C5-9D5B-14656E8F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7147CE-8510-E6D4-FC4E-A44EAC6D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D0B2A7-EC42-F1CB-8BFD-827A7CAA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50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4FB7A-4741-1E59-31B6-2F545950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7B879B-16C0-1387-DA73-45C5086ED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EE8DD0-BF5A-F2D5-CDE7-15FD0FFA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921E9E-4CEF-8E31-8DD0-300502B4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F6C0D7-396C-D644-D973-000282B2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5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3C7A9D-0670-1372-CF1E-48DB1865A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969FA6-9295-3F7A-3ED3-A8DF68AF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199F36-B42C-2A4B-DBD2-7E98397B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7A13DC-074D-209E-EF23-735F7EF6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F8AD19-8A16-5ABA-A89E-B4922EDB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11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FA69F4-83A1-6FC2-DD9A-DC3ED12B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135327-5DA0-2DD0-3052-B8E5C7824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1BCA02-C17D-9116-EE6A-6D576BD66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F4CED1-9F37-2D86-E8B4-A084C4AF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3D5E8C-B780-91DF-EA48-F611F050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0C9F1D-36DF-3C22-EB7F-775B372A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750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BC1A4-0767-07A5-B852-84BF2191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095D69-B316-B4FF-E5F5-AE477889E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29F7E9-6199-2820-6D2D-01CF6B0BA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549081-3570-35C2-E80B-4A1709608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64CFAE1-6F63-6454-8828-256231DF8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4BE1B5-E191-31CF-9C7D-A4F7CD1B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856CFC-0CDC-34BB-0C30-C4A1EB8B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22DAD5-E669-00DB-8CE9-85FD7B6F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190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EE9428-97E3-A2C8-871D-EB2F5D04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620B2C-2AC0-C02E-C128-C368C256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825B63-0410-0B2C-7A70-E3E4BBB2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5FE844-C56F-724A-4634-114CD425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50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E3E5CB-D88D-62FE-9FB7-3A4E2BC8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330DC4-E313-BFBB-4F8B-B864E7A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8F3C15-6D10-FC62-6048-24716DD16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11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BCE30F-D51D-2A52-4E36-D8AAE493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ECD436-677F-41EE-71C5-6A5D8F328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563BD0-84E7-AEC6-F56D-BCBBD36C7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229985-FAF5-8C12-B237-ED55BEE9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F81E79-C4E5-E598-8504-45364828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E4C044-E948-1512-2921-5C372E3B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62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63472-BA30-DBFF-AFCF-61AA063F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0DC8EE-CEF5-DC3E-4FD8-BA3DE077C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F43BB2-261C-8397-01CE-68F3F6111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B80B46-4687-ED80-E1E9-CC3E1D99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13DA2D-CE78-6495-3F43-D166D347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E6BA7F-322F-0451-645D-54010228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70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AC2B3-2823-824D-88F7-3375C325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EC38CE-DF48-4533-277A-E75156D92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833729-CF30-15E9-EEFB-9CE1DD43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E4622-50E0-B554-D8BC-06300DD6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C6D2C6-044D-72A5-FB4F-8F7D52E2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57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0B3A1C-BF60-1436-0BD3-B8F3E6109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E64109-77B6-95BE-A801-3035F0358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AB659-6A25-276D-1D49-700AD7CE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E23731-66FB-915F-9F8E-285E2DFB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2E2998-7DA2-9BE7-77EF-DC53F5E5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19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5F4D88D-B2BB-CC47-D89B-300E16E4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85A7D4-1E94-6166-D8D9-70AD26D3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F84315-F908-FB66-3C91-7D20F86F0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F0108-805A-4CD7-BE16-DF43657C0E0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2DC410-167E-FB5A-FFF0-92E2653EC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5BD1CA-89F6-695D-2418-3C28C68FD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58216-F0C2-425A-A5D3-F9AAE179E3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23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FBDFFB-B9CF-32EE-5390-D0D862307147}"/>
              </a:ext>
            </a:extLst>
          </p:cNvPr>
          <p:cNvSpPr txBox="1"/>
          <p:nvPr/>
        </p:nvSpPr>
        <p:spPr>
          <a:xfrm>
            <a:off x="3034833" y="4326072"/>
            <a:ext cx="6122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チーム</a:t>
            </a:r>
            <a:r>
              <a:rPr lang="en-US" altLang="ja-JP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: </a:t>
            </a:r>
            <a:r>
              <a:rPr lang="en-US" altLang="ja-JP" sz="4000" b="1" dirty="0">
                <a:ln w="1270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  <a:solidFill>
                  <a:schemeClr val="accent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rPr>
              <a:t>Cup of Coffee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A5FF74-051D-40FB-8CEB-69EC6E873EB0}"/>
              </a:ext>
            </a:extLst>
          </p:cNvPr>
          <p:cNvSpPr txBox="1"/>
          <p:nvPr/>
        </p:nvSpPr>
        <p:spPr>
          <a:xfrm>
            <a:off x="879669" y="940286"/>
            <a:ext cx="1050319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600" b="1" dirty="0">
                <a:ln w="19050">
                  <a:solidFill>
                    <a:schemeClr val="bg2"/>
                  </a:solidFill>
                </a:ln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  <a:cs typeface="Sans Serif Collection" panose="020B0502040504020204" pitchFamily="34" charset="0"/>
              </a:rPr>
              <a:t>Lazy</a:t>
            </a:r>
            <a:r>
              <a:rPr lang="en-US" altLang="ja-JP" sz="16600" b="1" dirty="0">
                <a:ln w="19050">
                  <a:solidFill>
                    <a:schemeClr val="bg2"/>
                  </a:solidFill>
                </a:ln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  <a:cs typeface="Sans Serif Collection" panose="020B0502040504020204" pitchFamily="34" charset="0"/>
              </a:rPr>
              <a:t>-Man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6C1F57-5A4B-57C4-9185-18BDE8A5F8DE}"/>
              </a:ext>
            </a:extLst>
          </p:cNvPr>
          <p:cNvSpPr txBox="1"/>
          <p:nvPr/>
        </p:nvSpPr>
        <p:spPr>
          <a:xfrm>
            <a:off x="4089206" y="612836"/>
            <a:ext cx="4013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b="1" dirty="0">
                <a:ln w="19050">
                  <a:solidFill>
                    <a:schemeClr val="bg2"/>
                  </a:solidFill>
                </a:ln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行書体" panose="03000609000000000000" pitchFamily="65" charset="-128"/>
                <a:ea typeface="HG行書体" panose="03000609000000000000" pitchFamily="65" charset="-128"/>
              </a:rPr>
              <a:t>サボリーマン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5E741E-49C0-F86D-3A3E-575118DB59FC}"/>
              </a:ext>
            </a:extLst>
          </p:cNvPr>
          <p:cNvSpPr txBox="1"/>
          <p:nvPr/>
        </p:nvSpPr>
        <p:spPr>
          <a:xfrm>
            <a:off x="-193918" y="6043794"/>
            <a:ext cx="12579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メンバー</a:t>
            </a:r>
            <a:r>
              <a:rPr kumimoji="1"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: </a:t>
            </a:r>
            <a:r>
              <a:rPr kumimoji="1"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入澤風山</a:t>
            </a:r>
            <a:r>
              <a:rPr kumimoji="1"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</a:t>
            </a:r>
            <a:r>
              <a:rPr kumimoji="1"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開地碧音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髙橋美咲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近田尚也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長尾悠成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西尾飛磨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水本大介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矢吹幸翔</a:t>
            </a:r>
            <a:endParaRPr lang="en-US" altLang="ja-JP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ja-JP" alt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出席番号順</a:t>
            </a:r>
            <a:r>
              <a:rPr lang="en-US" altLang="ja-JP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endParaRPr kumimoji="1" lang="ja-JP" alt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9C570D-14C2-D5F5-C58F-8F785ED9B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319549" y="3893859"/>
            <a:ext cx="1096678" cy="109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09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D68284-FE19-B347-81FA-F632AF6DC215}"/>
              </a:ext>
            </a:extLst>
          </p:cNvPr>
          <p:cNvSpPr txBox="1"/>
          <p:nvPr/>
        </p:nvSpPr>
        <p:spPr>
          <a:xfrm>
            <a:off x="-414460" y="174707"/>
            <a:ext cx="436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</a:t>
            </a:r>
            <a:r>
              <a:rPr kumimoji="1"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コンセプト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ADF348-1876-D695-DBB8-D0D6A5E8996F}"/>
              </a:ext>
            </a:extLst>
          </p:cNvPr>
          <p:cNvSpPr txBox="1"/>
          <p:nvPr/>
        </p:nvSpPr>
        <p:spPr>
          <a:xfrm>
            <a:off x="696234" y="5606075"/>
            <a:ext cx="10799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ターゲット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: 18~65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歳のサラリーマンの方々</a:t>
            </a:r>
            <a:endParaRPr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           </a:t>
            </a:r>
            <a:r>
              <a:rPr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TGS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に来る人</a:t>
            </a:r>
            <a:r>
              <a:rPr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つまりそれはワールドワイド</a:t>
            </a:r>
            <a:r>
              <a:rPr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25A2BC-8A73-F1F1-E5A0-55AD763EB81E}"/>
              </a:ext>
            </a:extLst>
          </p:cNvPr>
          <p:cNvSpPr txBox="1"/>
          <p:nvPr/>
        </p:nvSpPr>
        <p:spPr>
          <a:xfrm>
            <a:off x="3823174" y="807883"/>
            <a:ext cx="4188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b="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本気でサボる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2686BA-A889-3A6A-F6F9-7A889AFD5597}"/>
              </a:ext>
            </a:extLst>
          </p:cNvPr>
          <p:cNvSpPr txBox="1"/>
          <p:nvPr/>
        </p:nvSpPr>
        <p:spPr>
          <a:xfrm>
            <a:off x="0" y="2094700"/>
            <a:ext cx="7471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最低限の</a:t>
            </a:r>
            <a:r>
              <a:rPr lang="ja-JP" altLang="en-US" sz="4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労働</a:t>
            </a:r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に 最高級の</a:t>
            </a:r>
            <a:r>
              <a:rPr lang="ja-JP" altLang="en-US" sz="4000" b="1" dirty="0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サボり</a:t>
            </a:r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を</a:t>
            </a:r>
            <a:endParaRPr kumimoji="1" lang="ja-JP" altLang="en-US" sz="4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3BFB78-6661-17B8-5B89-577C6B3E694A}"/>
              </a:ext>
            </a:extLst>
          </p:cNvPr>
          <p:cNvSpPr txBox="1"/>
          <p:nvPr/>
        </p:nvSpPr>
        <p:spPr>
          <a:xfrm>
            <a:off x="3735572" y="3306807"/>
            <a:ext cx="8407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「</a:t>
            </a:r>
            <a:r>
              <a:rPr lang="ja-JP" altLang="en-US" sz="40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ゲームセンター</a:t>
            </a:r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」と書いて「</a:t>
            </a:r>
            <a:r>
              <a:rPr lang="ja-JP" alt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外回り</a:t>
            </a:r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」</a:t>
            </a:r>
            <a:r>
              <a:rPr kumimoji="1"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と読む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8E16A4-36DA-917F-3484-A7A668B92ECD}"/>
              </a:ext>
            </a:extLst>
          </p:cNvPr>
          <p:cNvSpPr txBox="1"/>
          <p:nvPr/>
        </p:nvSpPr>
        <p:spPr>
          <a:xfrm>
            <a:off x="0" y="4329386"/>
            <a:ext cx="6329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全ての思考を</a:t>
            </a:r>
            <a:r>
              <a:rPr lang="ja-JP" altLang="en-US" sz="4000" b="1" dirty="0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サボり</a:t>
            </a:r>
            <a:r>
              <a:rPr lang="ja-JP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P行書体" panose="03000600000000000000" pitchFamily="66" charset="-128"/>
                <a:ea typeface="HGP行書体" panose="03000600000000000000" pitchFamily="66" charset="-128"/>
              </a:rPr>
              <a:t>に向けろ</a:t>
            </a:r>
            <a:endParaRPr kumimoji="1" lang="ja-JP" altLang="en-US" sz="4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77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FA3470-88E7-6A9A-B893-09DC563D9642}"/>
              </a:ext>
            </a:extLst>
          </p:cNvPr>
          <p:cNvSpPr txBox="1"/>
          <p:nvPr/>
        </p:nvSpPr>
        <p:spPr>
          <a:xfrm>
            <a:off x="318923" y="2063706"/>
            <a:ext cx="5556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舞台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: 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オフィスと会社周り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D74716-9F72-BB31-E03C-392A5461A89C}"/>
              </a:ext>
            </a:extLst>
          </p:cNvPr>
          <p:cNvSpPr txBox="1"/>
          <p:nvPr/>
        </p:nvSpPr>
        <p:spPr>
          <a:xfrm>
            <a:off x="58223" y="882593"/>
            <a:ext cx="7910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3D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の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TPS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アクション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&amp;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シミュレーション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638379-919C-10ED-2170-F345FBF03BD8}"/>
              </a:ext>
            </a:extLst>
          </p:cNvPr>
          <p:cNvSpPr txBox="1"/>
          <p:nvPr/>
        </p:nvSpPr>
        <p:spPr>
          <a:xfrm>
            <a:off x="-414460" y="174707"/>
            <a:ext cx="436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</a:t>
            </a:r>
            <a:r>
              <a:rPr kumimoji="1"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ゲーム概要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356E9B-4C0C-9AE6-72B9-AAAE66A54C95}"/>
              </a:ext>
            </a:extLst>
          </p:cNvPr>
          <p:cNvSpPr txBox="1"/>
          <p:nvPr/>
        </p:nvSpPr>
        <p:spPr>
          <a:xfrm>
            <a:off x="308047" y="3021732"/>
            <a:ext cx="110906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目的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: 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タスクをやりつつも、バレないように滅茶苦茶サボる</a:t>
            </a:r>
            <a:endParaRPr kumimoji="1"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      結果的にサボリーマン判定をもらい、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スコアを競う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7C0232-626E-11D6-ED3F-7A99C08B8672}"/>
              </a:ext>
            </a:extLst>
          </p:cNvPr>
          <p:cNvSpPr txBox="1"/>
          <p:nvPr/>
        </p:nvSpPr>
        <p:spPr>
          <a:xfrm>
            <a:off x="318923" y="4472201"/>
            <a:ext cx="107679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＜進行＞</a:t>
            </a:r>
            <a:endParaRPr kumimoji="1"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最初はデスクワーク画面から始まって、簡単なサボり方と</a:t>
            </a:r>
            <a:endParaRPr kumimoji="1"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タスクの進め方を覚えさせる</a:t>
            </a:r>
            <a:endParaRPr kumimoji="1"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そのあとに、席を立った</a:t>
            </a:r>
            <a:r>
              <a:rPr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TPS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視点のプレイを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755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083907-3BF0-2C64-9562-7C2A15C884C2}"/>
              </a:ext>
            </a:extLst>
          </p:cNvPr>
          <p:cNvSpPr txBox="1"/>
          <p:nvPr/>
        </p:nvSpPr>
        <p:spPr>
          <a:xfrm>
            <a:off x="-835002" y="103701"/>
            <a:ext cx="436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マップ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37DA7DC-F81A-6ED7-7D62-0753368880F3}"/>
              </a:ext>
            </a:extLst>
          </p:cNvPr>
          <p:cNvGrpSpPr/>
          <p:nvPr/>
        </p:nvGrpSpPr>
        <p:grpSpPr>
          <a:xfrm>
            <a:off x="1121397" y="911271"/>
            <a:ext cx="9949206" cy="5135142"/>
            <a:chOff x="921489" y="1187441"/>
            <a:chExt cx="10065488" cy="530905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87C02FD1-FDC6-8244-0020-CCA1669AE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489" y="1187441"/>
              <a:ext cx="10065488" cy="530905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8AD2D045-F13D-2BA3-92D4-46D66E72B222}"/>
                </a:ext>
              </a:extLst>
            </p:cNvPr>
            <p:cNvSpPr/>
            <p:nvPr/>
          </p:nvSpPr>
          <p:spPr>
            <a:xfrm>
              <a:off x="6798559" y="1771234"/>
              <a:ext cx="692424" cy="4248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solidFill>
                    <a:schemeClr val="tx1"/>
                  </a:solidFill>
                </a:rPr>
                <a:t>コピー機</a:t>
              </a: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E90EA5-FD44-5F44-B318-FC5637A79D37}"/>
              </a:ext>
            </a:extLst>
          </p:cNvPr>
          <p:cNvSpPr txBox="1"/>
          <p:nvPr/>
        </p:nvSpPr>
        <p:spPr>
          <a:xfrm>
            <a:off x="1451331" y="6273225"/>
            <a:ext cx="9289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タスクは自席やコピー機、同僚の席などでできる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85F7F2-3BCA-20C9-7EB6-341A8F6C3DC8}"/>
              </a:ext>
            </a:extLst>
          </p:cNvPr>
          <p:cNvSpPr txBox="1"/>
          <p:nvPr/>
        </p:nvSpPr>
        <p:spPr>
          <a:xfrm>
            <a:off x="1828800" y="3519715"/>
            <a:ext cx="805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同僚の席</a:t>
            </a:r>
          </a:p>
        </p:txBody>
      </p:sp>
    </p:spTree>
    <p:extLst>
      <p:ext uri="{BB962C8B-B14F-4D97-AF65-F5344CB8AC3E}">
        <p14:creationId xmlns:p14="http://schemas.microsoft.com/office/powerpoint/2010/main" val="223097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348BEBD-6E08-4081-74D2-9BEED037E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14" y="1248364"/>
            <a:ext cx="9483727" cy="5350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BAE037-2071-5530-CFC0-384A1980F963}"/>
              </a:ext>
            </a:extLst>
          </p:cNvPr>
          <p:cNvSpPr txBox="1"/>
          <p:nvPr/>
        </p:nvSpPr>
        <p:spPr>
          <a:xfrm>
            <a:off x="-835002" y="203385"/>
            <a:ext cx="6484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ゲーム画面イメージ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539BD1-6F35-A97A-7EB7-D7E3AA54C657}"/>
              </a:ext>
            </a:extLst>
          </p:cNvPr>
          <p:cNvSpPr txBox="1"/>
          <p:nvPr/>
        </p:nvSpPr>
        <p:spPr>
          <a:xfrm>
            <a:off x="5557283" y="424159"/>
            <a:ext cx="2806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~</a:t>
            </a:r>
            <a:r>
              <a:rPr kumimoji="1"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デスクワーク時</a:t>
            </a:r>
            <a:r>
              <a:rPr kumimoji="1" lang="en-US" altLang="ja-JP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~</a:t>
            </a:r>
            <a:endParaRPr kumimoji="1" lang="ja-JP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878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9A52F3-35C3-0DFC-C998-7718B023FAE4}"/>
              </a:ext>
            </a:extLst>
          </p:cNvPr>
          <p:cNvSpPr txBox="1"/>
          <p:nvPr/>
        </p:nvSpPr>
        <p:spPr>
          <a:xfrm>
            <a:off x="-835002" y="203385"/>
            <a:ext cx="6484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ゲーム画面イメージ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B903B8-4857-55B9-FD2E-40E8EC557FB9}"/>
              </a:ext>
            </a:extLst>
          </p:cNvPr>
          <p:cNvSpPr txBox="1"/>
          <p:nvPr/>
        </p:nvSpPr>
        <p:spPr>
          <a:xfrm>
            <a:off x="5649433" y="449606"/>
            <a:ext cx="1750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~TPS</a:t>
            </a:r>
            <a:r>
              <a:rPr kumimoji="1"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時</a:t>
            </a:r>
            <a:r>
              <a:rPr kumimoji="1" lang="en-US" altLang="ja-JP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~</a:t>
            </a:r>
            <a:endParaRPr kumimoji="1" lang="ja-JP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7745042-D078-5145-2384-793B6BC92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6" t="14498" r="19672" b="23761"/>
          <a:stretch>
            <a:fillRect/>
          </a:stretch>
        </p:blipFill>
        <p:spPr>
          <a:xfrm>
            <a:off x="1786919" y="1234834"/>
            <a:ext cx="9360612" cy="52653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7666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6954357-9378-22D7-CEA0-CCFFEA619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3851"/>
            <a:ext cx="12192000" cy="22720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B86FC8-E412-51A2-F614-921D74AB3279}"/>
              </a:ext>
            </a:extLst>
          </p:cNvPr>
          <p:cNvSpPr txBox="1"/>
          <p:nvPr/>
        </p:nvSpPr>
        <p:spPr>
          <a:xfrm>
            <a:off x="-835002" y="203385"/>
            <a:ext cx="4442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操作方法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226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09C5E6-3CBD-6028-5190-873FA1E1E725}"/>
              </a:ext>
            </a:extLst>
          </p:cNvPr>
          <p:cNvSpPr txBox="1"/>
          <p:nvPr/>
        </p:nvSpPr>
        <p:spPr>
          <a:xfrm>
            <a:off x="-835001" y="203385"/>
            <a:ext cx="5952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ゲームの特徴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08B8F6-A3A7-8BCE-1E8A-0C816129924A}"/>
              </a:ext>
            </a:extLst>
          </p:cNvPr>
          <p:cNvSpPr txBox="1"/>
          <p:nvPr/>
        </p:nvSpPr>
        <p:spPr>
          <a:xfrm>
            <a:off x="418215" y="1026377"/>
            <a:ext cx="204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&lt;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設定 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&gt;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BCA6DB-C67A-4007-F35F-25D5DB003DC4}"/>
              </a:ext>
            </a:extLst>
          </p:cNvPr>
          <p:cNvSpPr txBox="1"/>
          <p:nvPr/>
        </p:nvSpPr>
        <p:spPr>
          <a:xfrm>
            <a:off x="418215" y="1777058"/>
            <a:ext cx="57648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会社で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働きづめなサラリーマンが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一流のサボリーマンを目指し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上司の目を盗み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サボりまくる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5E9309-5201-CF11-B0C8-35CFAAF73E22}"/>
              </a:ext>
            </a:extLst>
          </p:cNvPr>
          <p:cNvSpPr txBox="1"/>
          <p:nvPr/>
        </p:nvSpPr>
        <p:spPr>
          <a:xfrm>
            <a:off x="418215" y="3869667"/>
            <a:ext cx="204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&lt;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展開 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&gt;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1A866C-235F-C457-A16C-6EE9BE4CF9A9}"/>
              </a:ext>
            </a:extLst>
          </p:cNvPr>
          <p:cNvSpPr txBox="1"/>
          <p:nvPr/>
        </p:nvSpPr>
        <p:spPr>
          <a:xfrm>
            <a:off x="418215" y="4566125"/>
            <a:ext cx="104647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サボりのバリエーションが増えていく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/</a:t>
            </a: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規模</a:t>
            </a:r>
            <a:r>
              <a:rPr kumimoji="1"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移動範囲</a:t>
            </a:r>
            <a:r>
              <a:rPr kumimoji="1"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も大きく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緊急会議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オフィスに上司がいなくなる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、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社長襲来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上司のさらに上の上司が来る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などのイベント発生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上司によるフェイントがあるかも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BA1915-F34F-2D67-3E99-70C6C1ED256F}"/>
              </a:ext>
            </a:extLst>
          </p:cNvPr>
          <p:cNvSpPr txBox="1"/>
          <p:nvPr/>
        </p:nvSpPr>
        <p:spPr>
          <a:xfrm>
            <a:off x="6354555" y="1026376"/>
            <a:ext cx="3362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&lt;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サボり要素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&gt;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B33B18-8685-367E-D5A0-E4AB4E100A87}"/>
              </a:ext>
            </a:extLst>
          </p:cNvPr>
          <p:cNvSpPr txBox="1"/>
          <p:nvPr/>
        </p:nvSpPr>
        <p:spPr>
          <a:xfrm>
            <a:off x="6354555" y="1772773"/>
            <a:ext cx="57648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50000"/>
            </a:pP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・タバコを吸いに行く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>
              <a:buSzPct val="50000"/>
            </a:pP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・雑誌を立ち読む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>
              <a:buSzPct val="50000"/>
            </a:pP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</a:t>
            </a:r>
            <a:r>
              <a:rPr kumimoji="1"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SNS</a:t>
            </a:r>
            <a:r>
              <a:rPr kumimoji="1"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見る</a:t>
            </a:r>
            <a:endParaRPr kumimoji="1"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>
              <a:buSzPct val="50000"/>
            </a:pP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・飲食する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444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675B08-C2FB-874A-556E-3983015CDF16}"/>
              </a:ext>
            </a:extLst>
          </p:cNvPr>
          <p:cNvSpPr txBox="1"/>
          <p:nvPr/>
        </p:nvSpPr>
        <p:spPr>
          <a:xfrm>
            <a:off x="-885801" y="356920"/>
            <a:ext cx="6118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リスクとリターン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8829C8-87BD-8742-D769-087B35A48A1D}"/>
              </a:ext>
            </a:extLst>
          </p:cNvPr>
          <p:cNvSpPr txBox="1"/>
          <p:nvPr/>
        </p:nvSpPr>
        <p:spPr>
          <a:xfrm>
            <a:off x="475428" y="1135248"/>
            <a:ext cx="2312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&lt;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リスク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&gt;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04DB3BE-AA2C-47D8-AA8B-F8491639A3B3}"/>
              </a:ext>
            </a:extLst>
          </p:cNvPr>
          <p:cNvSpPr txBox="1"/>
          <p:nvPr/>
        </p:nvSpPr>
        <p:spPr>
          <a:xfrm>
            <a:off x="475428" y="4235451"/>
            <a:ext cx="2805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&lt;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リターン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&gt;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199DD9-3025-540C-6931-D533803E42CC}"/>
              </a:ext>
            </a:extLst>
          </p:cNvPr>
          <p:cNvSpPr txBox="1"/>
          <p:nvPr/>
        </p:nvSpPr>
        <p:spPr>
          <a:xfrm>
            <a:off x="700398" y="1790465"/>
            <a:ext cx="102869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・サボりすぎる、又は​席を離れすぎると​上司の警戒度が上がる​。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・サボりの注意を受けると​、サボりの効率が落ちる​。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</a:t>
            </a:r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回目でゲームオーバー​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・チキってタスクをしすぎると、</a:t>
            </a:r>
            <a:r>
              <a:rPr lang="ja-JP" altLang="en-US" sz="2800" b="1" dirty="0">
                <a:ln w="1270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サボリーマン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にはなれない。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ln w="12700"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サラリーマン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になってしまう​</a:t>
            </a:r>
            <a:endParaRPr kumimoji="1" lang="ja-JP" alt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0EE871-DF4E-B5AE-4FF1-DA9CD67DEE4A}"/>
              </a:ext>
            </a:extLst>
          </p:cNvPr>
          <p:cNvSpPr txBox="1"/>
          <p:nvPr/>
        </p:nvSpPr>
        <p:spPr>
          <a:xfrm>
            <a:off x="700399" y="4953148"/>
            <a:ext cx="10286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・サボりの数をこなすと、</a:t>
            </a:r>
            <a:r>
              <a:rPr lang="ja-JP" altLang="en-US" sz="2800" b="1" dirty="0">
                <a:ln w="1270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サボリーマン</a:t>
            </a:r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として一流になれる。​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・席を離れると、サボりのバリエーションが増える。</a:t>
            </a:r>
            <a:endParaRPr lang="en-US" altLang="ja-JP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・タスクをすると、上司の警戒度が下がる</a:t>
            </a:r>
            <a:endParaRPr kumimoji="1" lang="ja-JP" alt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926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15B033-9532-CB56-9A15-4C4D08C03A1A}"/>
              </a:ext>
            </a:extLst>
          </p:cNvPr>
          <p:cNvSpPr txBox="1"/>
          <p:nvPr/>
        </p:nvSpPr>
        <p:spPr>
          <a:xfrm>
            <a:off x="-835001" y="203385"/>
            <a:ext cx="6519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　　アピールポイント</a:t>
            </a:r>
            <a:endParaRPr kumimoji="1" lang="en-US" altLang="ja-JP" sz="4000" b="1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C1BEBA-2561-B298-21FD-4A0682067230}"/>
              </a:ext>
            </a:extLst>
          </p:cNvPr>
          <p:cNvSpPr txBox="1"/>
          <p:nvPr/>
        </p:nvSpPr>
        <p:spPr>
          <a:xfrm>
            <a:off x="148854" y="1453118"/>
            <a:ext cx="107034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・攻めれば攻めるほど、上司にバレる危険性もあるが、</a:t>
            </a:r>
            <a:endParaRPr kumimoji="1" lang="en-US" altLang="ja-JP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　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ギリギリバレなかった時の気持ちよさがある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BAA95B-ABA0-F197-5D53-E070DE431172}"/>
              </a:ext>
            </a:extLst>
          </p:cNvPr>
          <p:cNvSpPr txBox="1"/>
          <p:nvPr/>
        </p:nvSpPr>
        <p:spPr>
          <a:xfrm>
            <a:off x="148854" y="2890391"/>
            <a:ext cx="839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・いろんなサボりを連続で出来た時のテンポ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1FDF92-7871-515E-98BC-A610615185AA}"/>
              </a:ext>
            </a:extLst>
          </p:cNvPr>
          <p:cNvSpPr txBox="1"/>
          <p:nvPr/>
        </p:nvSpPr>
        <p:spPr>
          <a:xfrm>
            <a:off x="148855" y="4077694"/>
            <a:ext cx="3111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・簡単な操作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CDCA9B-6921-0D71-CC84-04496DA6FD5A}"/>
              </a:ext>
            </a:extLst>
          </p:cNvPr>
          <p:cNvSpPr txBox="1"/>
          <p:nvPr/>
        </p:nvSpPr>
        <p:spPr>
          <a:xfrm>
            <a:off x="148854" y="5264997"/>
            <a:ext cx="8839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・言葉がいらない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kumimoji="1" lang="ja-JP" altLang="en-US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言葉がなくても楽しめる</a:t>
            </a:r>
            <a:r>
              <a:rPr kumimoji="1" lang="en-US" altLang="ja-JP" sz="3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endParaRPr kumimoji="1" lang="ja-JP" alt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940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499</Words>
  <Application>Microsoft Office PowerPoint</Application>
  <PresentationFormat>ワイド画面</PresentationFormat>
  <Paragraphs>73</Paragraphs>
  <Slides>10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HGP行書体</vt:lpstr>
      <vt:lpstr>HG行書体</vt:lpstr>
      <vt:lpstr>Noto Sans JP Black</vt:lpstr>
      <vt:lpstr>游ゴシック</vt:lpstr>
      <vt:lpstr>游ゴシック Light</vt:lpstr>
      <vt:lpstr>Arial</vt:lpstr>
      <vt:lpstr>Bahnschrift Condensed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入澤　風山</dc:creator>
  <cp:lastModifiedBy>開地　碧音</cp:lastModifiedBy>
  <cp:revision>96</cp:revision>
  <dcterms:created xsi:type="dcterms:W3CDTF">2026-04-20T00:21:31Z</dcterms:created>
  <dcterms:modified xsi:type="dcterms:W3CDTF">2026-04-28T00:40:00Z</dcterms:modified>
</cp:coreProperties>
</file>